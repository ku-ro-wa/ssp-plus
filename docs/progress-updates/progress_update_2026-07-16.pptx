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Intake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Progress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Calibri"/>
              </a:rPr>
              <a:t>AIO SPARK — Self-Service Printing Kiosk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7763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F2A93B"/>
                </a:solidFill>
                <a:latin typeface="Calibri"/>
              </a:rPr>
              <a:t>Session Manager   ·   Wi-Fi Upload   ·   Email Adapter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July 16, 2026</a:t>
            </a:r>
          </a:p>
        </p:txBody>
      </p:sp>
      <p:sp>
        <p:nvSpPr>
          <p:cNvPr id="7" name="Oval 6"/>
          <p:cNvSpPr/>
          <p:nvPr/>
        </p:nvSpPr>
        <p:spPr>
          <a:xfrm>
            <a:off x="9052560" y="548640"/>
            <a:ext cx="640080" cy="640080"/>
          </a:xfrm>
          <a:prstGeom prst="ellipse">
            <a:avLst/>
          </a:prstGeom>
          <a:solidFill>
            <a:srgbClr val="2A3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i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580" y="708659"/>
            <a:ext cx="320040" cy="3200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9875520" y="548640"/>
            <a:ext cx="640080" cy="640080"/>
          </a:xfrm>
          <a:prstGeom prst="ellipse">
            <a:avLst/>
          </a:prstGeom>
          <a:solidFill>
            <a:srgbClr val="2A3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0" y="708659"/>
            <a:ext cx="320040" cy="32004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10698480" y="548640"/>
            <a:ext cx="640080" cy="64008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0" y="708659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What This Pipeline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5120640" cy="3017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2000" b="0">
                <a:solidFill>
                  <a:srgbClr val="1A1A2E"/>
                </a:solidFill>
                <a:latin typeface="Calibri"/>
              </a:rPr>
              <a:t>Users submit a PDF from their phone — </a:t>
            </a:r>
            <a:r>
              <a:rPr sz="2000" b="1">
                <a:solidFill>
                  <a:srgbClr val="1E2761"/>
                </a:solidFill>
                <a:latin typeface="Calibri"/>
              </a:rPr>
              <a:t>over the kiosk's Wi-Fi or by email</a:t>
            </a:r>
            <a:r>
              <a:rPr sz="2000" b="0">
                <a:solidFill>
                  <a:srgbClr val="1A1A2E"/>
                </a:solidFill>
                <a:latin typeface="Calibri"/>
              </a:rPr>
              <a:t> — and get back a </a:t>
            </a:r>
            <a:r>
              <a:rPr sz="2000" b="1">
                <a:solidFill>
                  <a:srgbClr val="F2A93B"/>
                </a:solidFill>
                <a:latin typeface="Calibri"/>
              </a:rPr>
              <a:t>one-time code and QR</a:t>
            </a:r>
            <a:r>
              <a:rPr sz="2000" b="0">
                <a:solidFill>
                  <a:srgbClr val="1A1A2E"/>
                </a:solidFill>
                <a:latin typeface="Calibri"/>
              </a:rPr>
              <a:t> they scan at the kiosk to print.</a:t>
            </a:r>
          </a:p>
        </p:txBody>
      </p:sp>
      <p:sp>
        <p:nvSpPr>
          <p:cNvPr id="4" name="Oval 3"/>
          <p:cNvSpPr/>
          <p:nvPr/>
        </p:nvSpPr>
        <p:spPr>
          <a:xfrm>
            <a:off x="6309360" y="2468880"/>
            <a:ext cx="1005840" cy="10058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i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820" y="272034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72200" y="3611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Submit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74320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2A93B"/>
                </a:solidFill>
                <a:latin typeface="Calibri"/>
              </a:rP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7909560" y="2468880"/>
            <a:ext cx="1005840" cy="10058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0" y="272034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3611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74320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2A93B"/>
                </a:solidFill>
                <a:latin typeface="Calibri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9509760" y="2468880"/>
            <a:ext cx="1005840" cy="10058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1220" y="272034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72600" y="3611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Pick 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14600" y="11887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97480" y="13716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i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210" y="1497330"/>
            <a:ext cx="251460" cy="2514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37560" y="131673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Wi-Fi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645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Connects to the kiosk Wi-Fi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11887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37959" y="13716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90" y="1497330"/>
            <a:ext cx="251460" cy="2514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39" y="131673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Email Intake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39" y="1645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Sent to the dedicated inbox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14884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4884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2487168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97480" y="2670048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210" y="2795778"/>
            <a:ext cx="251460" cy="2514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37560" y="261518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Wi-Fi Adapter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94436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Confirms it's really a PDF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487168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59" y="2670048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690" y="2795778"/>
            <a:ext cx="251460" cy="2514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78039" y="261518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Email Adapter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39" y="294436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Checks subject + attachment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44728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44728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14600" y="3785615"/>
            <a:ext cx="7132320" cy="105156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 w="15875">
            <a:solidFill>
              <a:srgbClr val="F2A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697480" y="3968496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k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4105656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383280" y="3913631"/>
            <a:ext cx="6080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Session 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242816"/>
            <a:ext cx="6080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Creates the one-time code + QR and ties it to the 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489204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14600" y="5230368"/>
            <a:ext cx="7132320" cy="822960"/>
          </a:xfrm>
          <a:prstGeom prst="roundRect">
            <a:avLst>
              <a:gd name="adj" fmla="val 8000"/>
            </a:avLst>
          </a:prstGeom>
          <a:solidFill>
            <a:srgbClr val="E8EEFB"/>
          </a:solidFill>
          <a:ln w="1587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697480" y="5413248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3210" y="5538978"/>
            <a:ext cx="251460" cy="2514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337560" y="5358383"/>
            <a:ext cx="6126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OTP + QR Ready for Pickup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5687568"/>
            <a:ext cx="6126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Sent back to the user immediately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14476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Wi-Fi  →  shown on the upload confirmation page          Email  →  sent back as a reply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What Was Built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50876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3736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146304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Session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9326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Generates a one-time code + QR for every submission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Codes expire automatically and lock after 5 wrong tries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0040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i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0" y="3154679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Wi-Fi Adapter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11880"/>
            <a:ext cx="9326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Checks the uploaded file is really a PDF, not just labeled one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Hands it to Session Manager to get a pickup code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89204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12064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00" y="484632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Email Adapter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03520"/>
            <a:ext cx="9326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Watches the kiosk's inbox for print-request emails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 Validates the subject + attachment, then emails back the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Tested and Working</a:t>
            </a:r>
          </a:p>
        </p:txBody>
      </p:sp>
      <p:sp>
        <p:nvSpPr>
          <p:cNvPr id="3" name="Oval 2"/>
          <p:cNvSpPr/>
          <p:nvPr/>
        </p:nvSpPr>
        <p:spPr>
          <a:xfrm>
            <a:off x="1645920" y="137160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660" y="1577340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33172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2A93B"/>
                </a:solidFill>
                <a:latin typeface="Calibri"/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E2761"/>
                </a:solidFill>
                <a:latin typeface="Calibri"/>
              </a:rPr>
              <a:t>automated tests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E2761"/>
                </a:solidFill>
                <a:latin typeface="Calibri"/>
              </a:rPr>
              <a:t>all passing offline</a:t>
            </a:r>
          </a:p>
        </p:txBody>
      </p:sp>
      <p:sp>
        <p:nvSpPr>
          <p:cNvPr id="7" name="Oval 6"/>
          <p:cNvSpPr/>
          <p:nvPr/>
        </p:nvSpPr>
        <p:spPr>
          <a:xfrm>
            <a:off x="4023360" y="13716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090" y="1497330"/>
            <a:ext cx="251460" cy="2514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09160" y="14173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Covered Offline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01168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OTP + session logic (expiry, lockout)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PDF validation, both Wi-Fi and email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Full email accept / reject / reply cycle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Background poller start &amp; stop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0" y="1371600"/>
            <a:ext cx="502920" cy="50292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569" y="1497330"/>
            <a:ext cx="251460" cy="2514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49640" y="1417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Needs the Real 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01168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 live greenmail container end-to-end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The real dedicated Gmail account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An actual captive portal + a phone on kiosk Wi-Fi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03520" cy="196596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828800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fre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19" y="196596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4480" y="184708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Move Off Greenmail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1460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Swap in the real Gmail account — just an .env change, no code rewrite.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554480"/>
            <a:ext cx="5303520" cy="196596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79" y="1828800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65960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84708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Wire Up the Poller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51460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Start and stop the background email checker from the main app, like the others.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5303520" cy="196596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4160520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if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19" y="4297680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54480" y="41788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Set Up the Captive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84632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Kiosk Wi-Fi hotspot that redirects a connecting phone to the upload page.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886200"/>
            <a:ext cx="5303520" cy="196596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79" y="4160520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oni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4297680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0" y="41788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Build the Pickup + Admin Screens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484632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Calibri"/>
              </a:rPr>
              <a:t>Scan or enter the code at the kiosk; give admins visibility into activity.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